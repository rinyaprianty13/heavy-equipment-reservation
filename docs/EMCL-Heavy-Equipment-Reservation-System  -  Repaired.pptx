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7"/>
    <p:restoredTop sz="94610"/>
  </p:normalViewPr>
  <p:slideViewPr>
    <p:cSldViewPr snapToGrid="0" snapToObjects="1">
      <p:cViewPr varScale="1">
        <p:scale>
          <a:sx n="162" d="100"/>
          <a:sy n="162" d="100"/>
        </p:scale>
        <p:origin x="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8716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141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" y="822960"/>
            <a:ext cx="822960" cy="822960"/>
          </a:xfrm>
          <a:prstGeom prst="roundRect">
            <a:avLst>
              <a:gd name="adj" fmla="val 11111"/>
            </a:avLst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8686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28600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EMCL Heavy Equipment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 System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3152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platform for cranes, forklifts, manlifts &amp; lifting operations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 |  Customer Presentation  |  June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legacy lifting plan software with a modern web platform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Tables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0604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60604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Types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903720" y="1554480"/>
            <a:ext cx="1920240" cy="1097280"/>
          </a:xfrm>
          <a:prstGeom prst="roundRect">
            <a:avLst>
              <a:gd name="adj" fmla="val 5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03720" y="16916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903720" y="22402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Centralized equipment booking across EMCL Cepu sites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conflict detection prevents double-booking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approval workflow with full compliance logging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delivered — ready for pilot deployment on Vercel + Neon PostgreSQL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Challenge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new system is needed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/ legacy lifting plans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1508760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3440" y="16002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Delays, errors, poor visibility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585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Double-booking of equipment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2167128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63440" y="225856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 conflicts &amp; downtime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825496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91693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Unclear approval process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2825496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91693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decisions, compliance risk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83864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357530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cross-site visibility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483864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663440" y="357530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to plan equipment usage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142232"/>
            <a:ext cx="3840480" cy="530352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42336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/ email tracking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4142232"/>
            <a:ext cx="4114800" cy="530352"/>
          </a:xfrm>
          <a:prstGeom prst="rect">
            <a:avLst/>
          </a:prstGeom>
          <a:solidFill>
            <a:srgbClr val="2A1518"/>
          </a:solidFill>
          <a:ln w="12700">
            <a:solidFill>
              <a:srgbClr val="B512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423367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audit trail for audits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equipment reservation lifecycle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1148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Request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equipment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date range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77440" y="2423160"/>
            <a:ext cx="18288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60604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0604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Detect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0604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check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alternatives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0" y="2423160"/>
            <a:ext cx="18288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80060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0060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Approve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 review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decision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2423160"/>
            <a:ext cx="18288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95160" y="1828800"/>
            <a:ext cx="1920240" cy="1188720"/>
          </a:xfrm>
          <a:prstGeom prst="roundRect">
            <a:avLst>
              <a:gd name="adj" fmla="val 615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95160" y="1938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Track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95160" y="2240280"/>
            <a:ext cx="1920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Calendar, status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notifications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1188720"/>
          </a:xfrm>
          <a:prstGeom prst="roundRect">
            <a:avLst>
              <a:gd name="adj" fmla="val 4615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0080" y="35204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web portal accessible from desktop &amp; mobile (PWA-ready)  •  Role-based access  •  ExxonMobil Cepu branded UI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Roles &amp; Access Control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roles — one login portal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2860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requests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My Requests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calendar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F1F1F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2860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Requestor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queue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/ Reject + notes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2743200"/>
          </a:xfrm>
          <a:prstGeom prst="roundRect">
            <a:avLst>
              <a:gd name="adj" fmla="val 2759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7373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355080" y="22860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Approver features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CRUD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assignment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sign-up to tracked reservation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 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58191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3736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3736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99923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15468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15468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Equipment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1655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Check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3387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98932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8932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51192" y="2267712"/>
            <a:ext cx="128016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06640" y="192024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406640" y="2029968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Requests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292608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equipment, start/end date &amp; time, purpose, cost code, notes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checks PENDING and APPROVED reservations for overlaps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Suggests alternative equipment when conflicts are detected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number auto-generated; status starts as PENDING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Governed approval with audit trail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17556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Tab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queue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2103120"/>
            <a:ext cx="27432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08960" y="164592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108960" y="17556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Request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108960" y="2057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Equipment, dates,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requestor, purpose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166360" y="2103120"/>
            <a:ext cx="27432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486400" y="150876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0" y="1618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2240280"/>
            <a:ext cx="13716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0" y="23500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2103120"/>
            <a:ext cx="27432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223760" y="1645920"/>
            <a:ext cx="1371600" cy="914400"/>
          </a:xfrm>
          <a:prstGeom prst="roundRect">
            <a:avLst>
              <a:gd name="adj" fmla="val 8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23760" y="17556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20574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Actor, status,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31520" y="3017520"/>
            <a:ext cx="7863840" cy="1371600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324612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recorded in approval_audit table: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→ APPROVED / REJECTED / REASSIGNED / CANCELLED / COMPLETED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Detection Engine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double-booking prevention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FULL_OVERLAP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date overlap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same equipment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PARTIAL_OVERLAP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date conflict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resolution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1280160"/>
          </a:xfrm>
          <a:prstGeom prst="roundRect">
            <a:avLst>
              <a:gd name="adj" fmla="val 5714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ADJACENT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Back-to-back bookings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for review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against: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and APPROVED reservations on same equipmentId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alternative_equipment suggestions when conflicts found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reservation_conflict table logs all detected overlaps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9776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example: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51960"/>
            <a:ext cx="2743200" cy="22860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526280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booking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28800" y="4251960"/>
            <a:ext cx="2286000" cy="228600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828800" y="45262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request (partial overlap)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cloud-ready stack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0" y="1508760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0" y="16184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Browser (Desktop / Mobile / PWA)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480560" y="2176272"/>
            <a:ext cx="0" cy="18288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2423160"/>
            <a:ext cx="6400800" cy="1005840"/>
          </a:xfrm>
          <a:prstGeom prst="roundRect">
            <a:avLst>
              <a:gd name="adj" fmla="val 727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2532888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Application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71600" y="283464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 •  Server Actions  •  shadcn/ui  •  Tailwind CSS v4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3456432"/>
            <a:ext cx="0" cy="24688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480560" y="3456432"/>
            <a:ext cx="0" cy="24688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760720" y="3456432"/>
            <a:ext cx="1371600" cy="24688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(Neon)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tables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29184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Auth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9184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Email/password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sessions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26480" y="3749040"/>
            <a:ext cx="2560320" cy="777240"/>
          </a:xfrm>
          <a:prstGeom prst="roundRect">
            <a:avLst>
              <a:gd name="adj" fmla="val 9412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26480" y="38587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26480" y="41605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alerts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Hosting: Vercel (recommended)  •  SSL/TLS  •  Connection pooling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integrated PostgreSQL tables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(4)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user, session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account, verification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3756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(5)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37560" y="19659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equipment, equipment_availability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reservation, user_role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notification_preference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217920" y="16642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 (4)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0" y="196596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reservation_conflict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alternative_equipment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approval_audit, notification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Indexed on: equipmentId + dates, requestorId, status, approverId, site, type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Delivered Features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Production-ready foundation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Request Management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Cranes, forklifts, manlifts, other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146304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60020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16636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Conflict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166360" y="18105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overlap types + alternatives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313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Workflow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587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Queue, notes, audit trail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00600" y="224028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237744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66360" y="23134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Access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166360" y="2587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Requestor, Approver, Admin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4864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Calendar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site &amp; type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301752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92040" y="315468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66360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6636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CRUD inventory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4864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3867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In-App Notifications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change alerts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794760"/>
            <a:ext cx="4114800" cy="658368"/>
          </a:xfrm>
          <a:prstGeom prst="rect">
            <a:avLst/>
          </a:prstGeom>
          <a:solidFill>
            <a:srgbClr val="1F1F1F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92040" y="393192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66360" y="38679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UI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166360" y="414223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Dark theme, EM branding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Screens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user interfaces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Landing Page — Features, workflow, CTA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41732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6002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Sign In / Sign Up — Better Auth secured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Dashboard — New Request, My Requests, Calendar, Approvals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246888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37760" y="26517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Reservation Form — Equipment picker, dates, conflict warnings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3703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Approval Queue — Expand, notes, approve/reject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00600" y="35204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37760" y="37033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Admin Equipment — Full CRUD inventory management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&amp; Compliance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Enterprise-grade protections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560320" y="146304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Auth — hashed passwords, HTTP-only sessions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29968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2029968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 checks on every server action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596896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Trail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560320" y="2596896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approval_audit logs all decisions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163824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Safety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3163824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 — parameterized queries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307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3730752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 / SSL in production (Neon + Vercel)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2976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4297680"/>
            <a:ext cx="6126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Per-user data isolation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Features — Phase 2+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 enhancements for full operations scale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27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318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2A — Operations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Project-based categorization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&amp; SMS notifications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role admin UI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code / WBS validation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141732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52704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2B — Integration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937760" y="187452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/ ERP integration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LDAP / Active Directory SSO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iCal calendar export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system link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Analytics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657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dashboard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tracking &amp; reporting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downtime KPIs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reports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3200400"/>
            <a:ext cx="4114800" cy="1600200"/>
          </a:xfrm>
          <a:prstGeom prst="roundRect">
            <a:avLst>
              <a:gd name="adj" fmla="val 3429"/>
            </a:avLst>
          </a:prstGeom>
          <a:solidFill>
            <a:srgbClr val="1F1F1F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331012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AB30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Mobile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65760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 mobile apps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notifications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request drafts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QR equipment scanning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Project-Based Categorization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Organize requests by EMCL project / campaign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1508760"/>
            <a:ext cx="2743200" cy="594360"/>
          </a:xfrm>
          <a:prstGeom prst="roundRect">
            <a:avLst>
              <a:gd name="adj" fmla="val 12308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0" y="161848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920240"/>
            <a:ext cx="27432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name, site, status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840480" y="2130552"/>
            <a:ext cx="0" cy="38404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2130552"/>
            <a:ext cx="0" cy="38404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303520" y="2130552"/>
            <a:ext cx="2011680" cy="38404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1520" y="2560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670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projectId FK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474720" y="2560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474720" y="2670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user_role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scope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217920" y="2560320"/>
            <a:ext cx="2194560" cy="685800"/>
          </a:xfrm>
          <a:prstGeom prst="roundRect">
            <a:avLst>
              <a:gd name="adj" fmla="val 10667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17920" y="2670048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4747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 selects project when submitting equipment request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Approvers filtered to projects they are authorized for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costCode retained for SAP chargeback; project for operations grouping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utilization and cost reporting per project/campaign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Future: Enterprise Integrations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EMCL corporate systems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508760"/>
            <a:ext cx="3291840" cy="731520"/>
          </a:xfrm>
          <a:prstGeom prst="roundRect">
            <a:avLst>
              <a:gd name="adj" fmla="val 10000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926080" y="161848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EMCL Reservation System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19202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/ Webhooks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2761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ERP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codes, WBS,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master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0" y="2651760"/>
            <a:ext cx="9144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26517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276148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Directory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0" y="3063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SSO, org hierarchy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2651760"/>
            <a:ext cx="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" y="37490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(SMTP)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alerts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286000" y="3749040"/>
            <a:ext cx="91440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1F1F1F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0" y="3858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CMMS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0" y="41605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Equipment status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00800" y="3749040"/>
            <a:ext cx="0" cy="0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value for EMCL operations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943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Faster bookings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manual lifting plan admin 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00600" y="146304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Fewer conflicts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9019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equipment utilization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1460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9436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Clear approvals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2953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&amp; compliance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00600" y="251460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2606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👁 Central visibility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37760" y="29535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Cross-site planning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Digital audit trail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40050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Easier regulatory audits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00600" y="3566160"/>
            <a:ext cx="4114800" cy="868680"/>
          </a:xfrm>
          <a:prstGeom prst="roundRect">
            <a:avLst>
              <a:gd name="adj" fmla="val 5263"/>
            </a:avLst>
          </a:prstGeom>
          <a:solidFill>
            <a:srgbClr val="1F1F1F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937760" y="3657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Scalable platform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40050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sites, equipment, users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Plan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Suggested rollout timeline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27048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828800" y="1463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Setup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0624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Configure Neon DB, roles, equipment list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51560" y="1947672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57200" y="2075688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185416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2–3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21214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216712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Requestor + Approver end-to-end testing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51560" y="2606040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7200" y="2734056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2843784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77977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282549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user sessions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51560" y="3264408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3392424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502152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4+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828800" y="343814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Go-Live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348386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Deployment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51560" y="3922776"/>
            <a:ext cx="0" cy="109728"/>
          </a:xfrm>
          <a:prstGeom prst="line">
            <a:avLst/>
          </a:prstGeom>
          <a:noFill/>
          <a:ln w="254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57200" y="4050792"/>
            <a:ext cx="1188720" cy="502920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1605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Q+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0" y="409651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206240" y="414223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module, email, SAP integration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Agenda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10-minute walkthrough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Landing page &amp; ExxonMobil Cepu branding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Sign up / Sign in (Better Auth)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240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Requestor: submit new equipment reservation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Conflict detection warning (if applicable)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Approver: review &amp; approve in Approvals tab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Requestor: view updated status in My Requests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38862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Equipment calendar — availability by site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976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Admin: equipment inventory management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 to production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pilot scope — select site(s), users, and equipment inventory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 roles — Requestors, Approvers, Admins in user_role table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UAT — full request → approve → calendar flow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role-based training sessions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to Vercel production with Neon PostgreSQL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Phase 2 — project categorization, email alerts, SAP integration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840480"/>
            <a:ext cx="8229600" cy="731520"/>
          </a:xfrm>
          <a:prstGeom prst="roundRect">
            <a:avLst>
              <a:gd name="adj" fmla="val 7500"/>
            </a:avLst>
          </a:prstGeom>
          <a:solidFill>
            <a:srgbClr val="1A1214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Contact: ExxonMobil Cepu Limited Operations Team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414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54864"/>
          </a:xfrm>
          <a:prstGeom prst="rect">
            <a:avLst/>
          </a:prstGeom>
          <a:solidFill>
            <a:srgbClr val="E318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64861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Answers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356301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EMCL Heavy Equipment Reservation System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31920" y="594363"/>
            <a:ext cx="1280160" cy="1280160"/>
          </a:xfrm>
          <a:prstGeom prst="roundRect">
            <a:avLst>
              <a:gd name="adj" fmla="val 8571"/>
            </a:avLst>
          </a:prstGeom>
          <a:solidFill>
            <a:srgbClr val="E31837"/>
          </a:solidFill>
          <a:ln w="12700">
            <a:solidFill>
              <a:srgbClr val="E318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931920" y="731523"/>
            <a:ext cx="1280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ExxonMobil Cepu Limited — Internal Use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1310</Words>
  <Application>Microsoft Macintosh PowerPoint</Application>
  <PresentationFormat>On-screen Show (16:9)</PresentationFormat>
  <Paragraphs>324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EMCL Heavy Equipment Reservation System</dc:title>
  <dc:subject>Customer Presentation</dc:subject>
  <dc:creator>ExxonMobil Cepu Limited</dc:creator>
  <cp:lastModifiedBy>Rini Apriyanti Purba</cp:lastModifiedBy>
  <cp:revision>3</cp:revision>
  <dcterms:created xsi:type="dcterms:W3CDTF">2026-06-11T15:35:25Z</dcterms:created>
  <dcterms:modified xsi:type="dcterms:W3CDTF">2026-06-11T15:42:42Z</dcterms:modified>
</cp:coreProperties>
</file>